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gif" ContentType="image/gif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ja-JP" sz="1800" spc="-1" strike="noStrike">
                <a:solidFill>
                  <a:schemeClr val="dk1"/>
                </a:solidFill>
                <a:latin typeface="Noto Sans JP"/>
              </a:rPr>
              <a:t>クリックしてスライドを移動</a:t>
            </a:r>
            <a:endParaRPr b="0" lang="en-US" sz="18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クリックしてノー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トの書式を編集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&lt;ヘッダー&gt;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&lt;日付/時刻&gt;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&lt;フッター&gt;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A0113D05-0893-4AC7-BD04-B3ED6B61CC9A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&lt;番号&gt;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こんにちは、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名前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]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です。今日は「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の呼び出しを最低限にして、ユーザーを待たせない」という話をします。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846144-F71E-4648-9A10-D3394792A3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画面を開くたび、並び替えやページ送りをするたびに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を呼んで、スピナーが出る。よくある作りですが、それは本当にユーザーにとって便利でしょうか。 昔の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Twitter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は、下までスクロールするとローディングが入っていました。今の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SNS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は先読みをして、そのローディングを見せなくなっています。ユーザーに通信を意識させないことが、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UX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につながると考えています。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6102D-9FC8-4EBC-99C0-7D54BAADBE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今回の主張です。読み出し中心のデータは、まとめて取得して手元で使い回す。そうすれば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の呼び出しを最低限にして、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をサクサクにできます。たとえばチャットの履歴や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SNS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のタイムラインのように、ユーザーごとに積み上がっていくデータです。前提として、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が用途で使い分けられていることが必要です。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59D51-62A5-468E-98E2-DE87D53C95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それを実現できそうなライブラリを軽く紹介します。フロントエンド勉強会で既に触れられているので、短くいきます。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TanStack 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は、取得したデータをコレクションとして持ち、ライブクエリで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SQL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のように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JOIN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して使えるライブラリです。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TanStack Virtual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は、見えている行だけを描画するので、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万行あっても描画が重くなりません。表の並び替えや絞り込みは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TanStack Table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に任せています。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E47EEA-A26F-42C0-A52D-EE053F0953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画面の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行を見てみます。商品名と価格は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MongoDB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、レビューは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DynamoDB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、人気ランキングは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Redis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、お気に入りはブラウザの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localStorage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。保存先がバラバラです。ブラウザが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に直接つながっているわけではなく、それぞれ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経由で取得しています。 バックエンドでこれを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行にまとめるなら、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BFF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を作って各サービスを呼び、組み立てる必要があります。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TanStack 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なら、それぞれをコレクションとして取得し、共通の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さえあればフロントで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JOIN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するだけです。 ここに並べたのは、量が多く読み出し中心の、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NoSQL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に置くようなデータです。在庫や決済のように整合性が大事なデータは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に置き、まとめて持ち続けずに都度取得します。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3B83B1-33CB-49A5-B105-09FE50273F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実際に動かしてみます。開いた瞬間に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を数本呼びます。スクロールしても描画は軽いまま。並び替えや絞り込みをしても、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Network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タブにリクエストは増えません。予算画面に切り替えても、取り直さずに同じデータを使っています。 （録画の流れ：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秒 ページを開く／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秒 一気にスクロール／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秒 並び替え・絞り込み／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40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秒 予算画面に切り替え）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9047B-5CB3-41F9-9158-E16A4C46FD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JOIN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をフロントに寄せると、バックエンドに求めるのは「範囲で絞って返す」ことだけになります。前提として、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は用途で使い分けます。まとめて取得するのは、ユーザーごとに積み上がる履歴のような、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NoSQL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に置く読み出し中心のデータ。ユーザーや権限、決済のように関係を壊せないデータは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RDB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です。そのうえで、画面遷移でデータを持ち越せる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SPA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と相性がいい。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を呼ぶのは、期間などの範囲を変えたときだけです。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3A546D-BA66-42B8-B892-5464FE89FE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データは最初にまとめて取って、あとは手元で使い回す。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API</a:t>
            </a:r>
            <a:r>
              <a:rPr b="0" lang="ja-JP" sz="2000" spc="-1" strike="noStrike">
                <a:solidFill>
                  <a:srgbClr val="000000"/>
                </a:solidFill>
                <a:latin typeface="Arial"/>
              </a:rPr>
              <a:t>を呼ぶのは範囲を変えたときだけ。待ちをなくすのではなく、待ちが発生する場所を設計しましょう。ありがとうございました。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A8F359-CD54-4317-9CA7-5E932FD340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&lt;番号&gt;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6000" cy="46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ja-JP" sz="3200" spc="-1" strike="noStrike">
                <a:solidFill>
                  <a:schemeClr val="dk1"/>
                </a:solidFill>
                <a:latin typeface="Noto Sans JP"/>
              </a:rPr>
              <a:t>クリックしてタイトルテキストを編集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12880" y="1585080"/>
            <a:ext cx="10566000" cy="446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クリックしてアウトラインのテキストを編集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2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3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4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5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6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chemeClr val="dk1"/>
                </a:solidFill>
                <a:latin typeface="Noto Sans JP"/>
              </a:rPr>
              <a:t>7</a:t>
            </a:r>
            <a:r>
              <a:rPr b="0" lang="ja-JP" sz="1600" spc="-1" strike="noStrike">
                <a:solidFill>
                  <a:schemeClr val="dk1"/>
                </a:solidFill>
                <a:latin typeface="Noto Sans JP"/>
              </a:rPr>
              <a:t>レベル目のアウトライン</a:t>
            </a:r>
            <a:endParaRPr b="0" lang="en-US" sz="1600" spc="-1" strike="noStrike">
              <a:solidFill>
                <a:schemeClr val="dk1"/>
              </a:solidFill>
              <a:latin typeface="Noto Sans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gif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97" strike="noStrike">
                <a:solidFill>
                  <a:srgbClr val="f08a4b"/>
                </a:solidFill>
                <a:latin typeface="JetBrains Mono"/>
                <a:ea typeface="JetBrains Mono"/>
              </a:rPr>
              <a:t>LT · 5 min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2261880"/>
            <a:ext cx="10883160" cy="166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6440"/>
              </a:lnSpc>
              <a:buNone/>
              <a:tabLst>
                <a:tab algn="l" pos="0"/>
              </a:tabLst>
            </a:pPr>
            <a:r>
              <a:rPr b="1" lang="en-US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TanSt</a:t>
            </a:r>
            <a:r>
              <a:rPr b="1" lang="en-US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ack</a:t>
            </a: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系</a:t>
            </a: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ライブ</a:t>
            </a: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ラリで</a:t>
            </a:r>
            <a:endParaRPr b="0" lang="en-US" sz="5600" spc="-1" strike="noStrike">
              <a:solidFill>
                <a:schemeClr val="dk1"/>
              </a:solidFill>
              <a:latin typeface="Noto Sans JP"/>
            </a:endParaRPr>
          </a:p>
          <a:p>
            <a:pPr indent="0" defTabSz="914400">
              <a:lnSpc>
                <a:spcPts val="6440"/>
              </a:lnSpc>
              <a:buNone/>
              <a:tabLst>
                <a:tab algn="l" pos="0"/>
              </a:tabLst>
            </a:pP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サクサ</a:t>
            </a: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ク</a:t>
            </a:r>
            <a:r>
              <a:rPr b="1" lang="en-US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UX</a:t>
            </a:r>
            <a:r>
              <a:rPr b="1" lang="ja-JP" sz="5600" spc="-1" strike="noStrike">
                <a:solidFill>
                  <a:srgbClr val="f7f6f2"/>
                </a:solidFill>
                <a:latin typeface="Noto Sans JP"/>
                <a:ea typeface="Noto Sans JP"/>
              </a:rPr>
              <a:t>改善</a:t>
            </a:r>
            <a:endParaRPr b="0" lang="en-US" sz="56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12880" y="4151520"/>
            <a:ext cx="108831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359"/>
              </a:lnSpc>
              <a:tabLst>
                <a:tab algn="l" pos="0"/>
              </a:tabLst>
            </a:pPr>
            <a:r>
              <a:rPr b="1" lang="ja-JP" sz="2400" spc="-1" strike="noStrike">
                <a:solidFill>
                  <a:srgbClr val="f08a4b"/>
                </a:solidFill>
                <a:latin typeface="Noto Sans JP"/>
                <a:ea typeface="Noto Sans JP"/>
              </a:rPr>
              <a:t>「</a:t>
            </a:r>
            <a:r>
              <a:rPr b="1" lang="en-US" sz="2400" spc="-1" strike="noStrike">
                <a:solidFill>
                  <a:srgbClr val="f08a4b"/>
                </a:solidFill>
                <a:latin typeface="Noto Sans JP"/>
                <a:ea typeface="Noto Sans JP"/>
              </a:rPr>
              <a:t>API</a:t>
            </a:r>
            <a:r>
              <a:rPr b="1" lang="ja-JP" sz="2400" spc="-1" strike="noStrike">
                <a:solidFill>
                  <a:srgbClr val="f08a4b"/>
                </a:solidFill>
                <a:latin typeface="Noto Sans JP"/>
                <a:ea typeface="Noto Sans JP"/>
              </a:rPr>
              <a:t>の呼び出しは最低限に！」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12880" y="5778360"/>
            <a:ext cx="10883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679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操作のたびに、スピナーが出ていませんか？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13" name="Text 1"/>
          <p:cNvSpPr/>
          <p:nvPr/>
        </p:nvSpPr>
        <p:spPr>
          <a:xfrm>
            <a:off x="812880" y="1585080"/>
            <a:ext cx="108831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ja-JP" sz="1600" spc="-1" strike="noStrike">
                <a:solidFill>
                  <a:srgbClr val="3d4555"/>
                </a:solidFill>
                <a:latin typeface="Noto Sans JP"/>
                <a:ea typeface="Noto Sans JP"/>
              </a:rPr>
              <a:t>画面を開くたび、操作するたびに</a:t>
            </a:r>
            <a:r>
              <a:rPr b="0" lang="en-US" sz="1600" spc="-1" strike="noStrike">
                <a:solidFill>
                  <a:srgbClr val="3d4555"/>
                </a:solidFill>
                <a:latin typeface="Noto Sans JP"/>
                <a:ea typeface="Noto Sans JP"/>
              </a:rPr>
              <a:t>API</a:t>
            </a:r>
            <a:r>
              <a:rPr b="0" lang="ja-JP" sz="1600" spc="-1" strike="noStrike">
                <a:solidFill>
                  <a:srgbClr val="3d4555"/>
                </a:solidFill>
                <a:latin typeface="Noto Sans JP"/>
                <a:ea typeface="Noto Sans JP"/>
              </a:rPr>
              <a:t>を呼ぶ。それは本当にユーザーにとって便利？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816120" y="2197800"/>
            <a:ext cx="5168520" cy="1819440"/>
          </a:xfrm>
          <a:prstGeom prst="roundRect">
            <a:avLst>
              <a:gd name="adj" fmla="val 540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1123920" y="2454840"/>
            <a:ext cx="4689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5"/>
                </a:solidFill>
                <a:latin typeface="JetBrains Mono"/>
                <a:ea typeface="JetBrains Mono"/>
              </a:rPr>
              <a:t>BEFORE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1123920" y="2769840"/>
            <a:ext cx="4689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ja-JP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昔の</a:t>
            </a:r>
            <a:r>
              <a:rPr b="1" lang="en-US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Twitter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1123920" y="3176280"/>
            <a:ext cx="468900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下までスクロールすると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ローディングが出ていた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6197760" y="2201040"/>
            <a:ext cx="5175000" cy="1813320"/>
          </a:xfrm>
          <a:prstGeom prst="roundRect">
            <a:avLst>
              <a:gd name="adj" fmla="val 5252"/>
            </a:avLst>
          </a:prstGeom>
          <a:solidFill>
            <a:srgbClr val="fbfaf7"/>
          </a:solidFill>
          <a:ln w="12700">
            <a:solidFill>
              <a:srgbClr val="b450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6508800" y="2461320"/>
            <a:ext cx="46890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NOW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6508800" y="2776320"/>
            <a:ext cx="4689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1" lang="ja-JP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今の</a:t>
            </a:r>
            <a:r>
              <a:rPr b="1" lang="en-US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SNS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6508800" y="3182400"/>
            <a:ext cx="468900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先読みをして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225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ローディングを見せない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812880" y="4325400"/>
            <a:ext cx="10883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801"/>
              </a:lnSpc>
              <a:tabLst>
                <a:tab algn="l" pos="0"/>
              </a:tabLst>
            </a:pPr>
            <a:r>
              <a:rPr b="1" lang="ja-JP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ユーザーに</a:t>
            </a:r>
            <a:r>
              <a:rPr b="1" lang="ja-JP" sz="2000" spc="-1" strike="noStrike">
                <a:solidFill>
                  <a:srgbClr val="b4501b"/>
                </a:solidFill>
                <a:latin typeface="Noto Sans JP"/>
                <a:ea typeface="Noto Sans JP"/>
              </a:rPr>
              <a:t>通信を意識させない</a:t>
            </a:r>
            <a:r>
              <a:rPr b="1" lang="ja-JP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ことが、</a:t>
            </a:r>
            <a:r>
              <a:rPr b="1" lang="en-US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UX</a:t>
            </a:r>
            <a:r>
              <a:rPr b="1" lang="ja-JP" sz="20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につながる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8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812880" y="176436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ja-JP" sz="1400" spc="97" strike="noStrike">
                <a:solidFill>
                  <a:srgbClr val="121826"/>
                </a:solidFill>
                <a:latin typeface="JetBrains Mono"/>
                <a:ea typeface="JetBrains Mono"/>
              </a:rPr>
              <a:t>今回の主張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12880" y="2266920"/>
            <a:ext cx="1088316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432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121826"/>
                </a:solidFill>
                <a:latin typeface="Noto Sans JP"/>
                <a:ea typeface="Noto Sans JP"/>
              </a:rPr>
              <a:t>読み出し中心のデータは、</a:t>
            </a:r>
            <a:endParaRPr b="0" lang="en-US" sz="3600" spc="-1" strike="noStrike">
              <a:solidFill>
                <a:schemeClr val="dk1"/>
              </a:solidFill>
              <a:latin typeface="Noto Sans JP"/>
            </a:endParaRPr>
          </a:p>
          <a:p>
            <a:pPr indent="0" defTabSz="914400">
              <a:lnSpc>
                <a:spcPts val="432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まとめて取得して、手元で使い回す。</a:t>
            </a:r>
            <a:endParaRPr b="0" lang="en-US" sz="36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25" name="Text 2"/>
          <p:cNvSpPr/>
          <p:nvPr/>
        </p:nvSpPr>
        <p:spPr>
          <a:xfrm>
            <a:off x="812880" y="3618360"/>
            <a:ext cx="108831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701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121826"/>
                </a:solidFill>
                <a:latin typeface="Noto Sans JP"/>
                <a:ea typeface="Noto Sans JP"/>
              </a:rPr>
              <a:t>→ </a:t>
            </a:r>
            <a:r>
              <a:rPr b="0" lang="en-US" sz="1800" spc="-1" strike="noStrike">
                <a:solidFill>
                  <a:srgbClr val="121826"/>
                </a:solidFill>
                <a:latin typeface="Noto Sans JP"/>
                <a:ea typeface="Noto Sans JP"/>
              </a:rPr>
              <a:t>API</a:t>
            </a:r>
            <a:r>
              <a:rPr b="0" lang="ja-JP" sz="18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の呼び出しを最低限にして、</a:t>
            </a:r>
            <a:r>
              <a:rPr b="0" lang="en-US" sz="1800" spc="-1" strike="noStrike">
                <a:solidFill>
                  <a:srgbClr val="121826"/>
                </a:solidFill>
                <a:latin typeface="Noto Sans JP"/>
                <a:ea typeface="Noto Sans JP"/>
              </a:rPr>
              <a:t>UI</a:t>
            </a:r>
            <a:r>
              <a:rPr b="0" lang="ja-JP" sz="1800" spc="-1" strike="noStrike">
                <a:solidFill>
                  <a:srgbClr val="121826"/>
                </a:solidFill>
                <a:latin typeface="Noto Sans JP"/>
                <a:ea typeface="Noto Sans JP"/>
              </a:rPr>
              <a:t>をサクサクにする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812880" y="4278600"/>
            <a:ext cx="81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ja-JP" sz="14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たとえば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1625760" y="4215240"/>
            <a:ext cx="1598040" cy="37548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ja-JP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チャットの履歴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3325680" y="4215240"/>
            <a:ext cx="1934280" cy="37548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SNS</a:t>
            </a:r>
            <a:r>
              <a:rPr b="0" lang="ja-JP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のタイムライン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361840" y="4215240"/>
            <a:ext cx="2133360" cy="37548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ja-JP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ログのダッシュボード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7597440" y="4215240"/>
            <a:ext cx="1465920" cy="375480"/>
          </a:xfrm>
          <a:prstGeom prst="roundRect">
            <a:avLst>
              <a:gd name="adj" fmla="val 50000"/>
            </a:avLst>
          </a:prstGeom>
          <a:solidFill>
            <a:srgbClr val="1218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195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EC</a:t>
            </a:r>
            <a:r>
              <a:rPr b="0" lang="ja-JP" sz="1400" spc="-1" strike="noStrike">
                <a:solidFill>
                  <a:srgbClr val="f7f6f2"/>
                </a:solidFill>
                <a:latin typeface="Noto Sans JP"/>
                <a:ea typeface="Noto Sans JP"/>
              </a:rPr>
              <a:t>の商品一覧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812880" y="4844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ja-JP" sz="1400" spc="-1" strike="noStrike">
                <a:solidFill>
                  <a:srgbClr val="121826"/>
                </a:solidFill>
                <a:latin typeface="Noto Sans JP"/>
                <a:ea typeface="Noto Sans JP"/>
              </a:rPr>
              <a:t>前提：</a:t>
            </a:r>
            <a:r>
              <a:rPr b="0" lang="en-US" sz="1400" spc="-1" strike="noStrike">
                <a:solidFill>
                  <a:srgbClr val="121826"/>
                </a:solidFill>
                <a:latin typeface="Noto Sans JP"/>
                <a:ea typeface="Noto Sans JP"/>
              </a:rPr>
              <a:t>DB</a:t>
            </a:r>
            <a:r>
              <a:rPr b="0" lang="ja-JP" sz="14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が用途で使い分けられていること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679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使うライブラリ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816120" y="1587960"/>
            <a:ext cx="5175000" cy="2683080"/>
          </a:xfrm>
          <a:prstGeom prst="roundRect">
            <a:avLst>
              <a:gd name="adj" fmla="val 366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123920" y="1896120"/>
            <a:ext cx="4695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@tanstack/react-db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1123920" y="2236320"/>
            <a:ext cx="4695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21826"/>
                </a:solidFill>
                <a:latin typeface="Noto Sans JP"/>
                <a:ea typeface="Noto Sans JP"/>
              </a:rPr>
              <a:t>TanStack DB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123920" y="2698560"/>
            <a:ext cx="46958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取得したデータをコレクションとして持ち、ライブクエリで</a:t>
            </a:r>
            <a:r>
              <a:rPr b="0" lang="en-US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SQL</a:t>
            </a: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のように</a:t>
            </a:r>
            <a:r>
              <a:rPr b="0" lang="en-US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JOIN</a:t>
            </a: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・絞り込みできる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123920" y="3435120"/>
            <a:ext cx="469584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0" lang="ja-JP" sz="1300" spc="-1" strike="noStrike">
                <a:solidFill>
                  <a:srgbClr val="5b6475"/>
                </a:solidFill>
                <a:latin typeface="Noto Sans JP"/>
                <a:ea typeface="Noto Sans JP"/>
              </a:rPr>
              <a:t>使いたい場面：データを画面用の形に組み立てたいとき、</a:t>
            </a:r>
            <a:r>
              <a:rPr b="0" lang="en-US" sz="1300" spc="-1" strike="noStrike">
                <a:solidFill>
                  <a:srgbClr val="5b6475"/>
                </a:solidFill>
                <a:latin typeface="Noto Sans JP"/>
                <a:ea typeface="Noto Sans JP"/>
              </a:rPr>
              <a:t>API</a:t>
            </a:r>
            <a:r>
              <a:rPr b="0" lang="ja-JP" sz="1300" spc="-1" strike="noStrike">
                <a:solidFill>
                  <a:srgbClr val="5b6475"/>
                </a:solidFill>
                <a:latin typeface="Noto Sans JP"/>
                <a:ea typeface="Noto Sans JP"/>
              </a:rPr>
              <a:t>の呼び出し回数を減らしたいとき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6200640" y="1587960"/>
            <a:ext cx="5175000" cy="2683080"/>
          </a:xfrm>
          <a:prstGeom prst="roundRect">
            <a:avLst>
              <a:gd name="adj" fmla="val 366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6508800" y="1896120"/>
            <a:ext cx="4695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@tanstack/react-virtual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6508800" y="2236320"/>
            <a:ext cx="469584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639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21826"/>
                </a:solidFill>
                <a:latin typeface="Noto Sans JP"/>
                <a:ea typeface="Noto Sans JP"/>
              </a:rPr>
              <a:t>TanStack Virtual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6508800" y="2698560"/>
            <a:ext cx="46958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見えている行だけを描画する。</a:t>
            </a:r>
            <a:r>
              <a:rPr b="0" lang="en-US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1</a:t>
            </a:r>
            <a:r>
              <a:rPr b="0" lang="ja-JP" sz="1500" spc="-1" strike="noStrike">
                <a:solidFill>
                  <a:srgbClr val="3d4555"/>
                </a:solidFill>
                <a:latin typeface="Noto Sans JP"/>
                <a:ea typeface="Noto Sans JP"/>
              </a:rPr>
              <a:t>万行のテーブルでも描画が重くならない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812880" y="457956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0" lang="ja-JP" sz="1400" spc="-1" strike="noStrike">
                <a:solidFill>
                  <a:srgbClr val="5b6475"/>
                </a:solidFill>
                <a:latin typeface="Noto Sans JP"/>
                <a:ea typeface="Noto Sans JP"/>
              </a:rPr>
              <a:t>表内の並び替え・絞り込みは </a:t>
            </a:r>
            <a:r>
              <a:rPr b="0" lang="en-US" sz="1400" spc="-1" strike="noStrike">
                <a:solidFill>
                  <a:srgbClr val="5b6475"/>
                </a:solidFill>
                <a:latin typeface="Noto Sans JP"/>
                <a:ea typeface="Noto Sans JP"/>
              </a:rPr>
              <a:t>TanStack Table </a:t>
            </a:r>
            <a:r>
              <a:rPr b="0" lang="ja-JP" sz="1400" spc="-1" strike="noStrike">
                <a:solidFill>
                  <a:srgbClr val="5b6475"/>
                </a:solidFill>
                <a:latin typeface="Noto Sans JP"/>
                <a:ea typeface="Noto Sans JP"/>
              </a:rPr>
              <a:t>に任せています（説明は割愛）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c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679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出どころが違っても、フロントで</a:t>
            </a:r>
            <a:r>
              <a:rPr b="1" lang="en-US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1</a:t>
            </a: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行にできる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816120" y="1486440"/>
            <a:ext cx="2520720" cy="1080360"/>
          </a:xfrm>
          <a:prstGeom prst="roundRect">
            <a:avLst>
              <a:gd name="adj" fmla="val 910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996840" y="16419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productCollection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996840" y="1893600"/>
            <a:ext cx="2223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商品名・価格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996840" y="21981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NoSQL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（</a:t>
            </a: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MongoDB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）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3495600" y="1486440"/>
            <a:ext cx="2520720" cy="1080360"/>
          </a:xfrm>
          <a:prstGeom prst="roundRect">
            <a:avLst>
              <a:gd name="adj" fmla="val 910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3676680" y="16419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reviewCollection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3676680" y="1893600"/>
            <a:ext cx="2223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レビュー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676680" y="21981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NoSQL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（</a:t>
            </a: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DynamoDB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）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6175440" y="1486440"/>
            <a:ext cx="2520720" cy="1080360"/>
          </a:xfrm>
          <a:prstGeom prst="roundRect">
            <a:avLst>
              <a:gd name="adj" fmla="val 910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6356520" y="16419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rankingCollection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6356520" y="1893600"/>
            <a:ext cx="2223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人気ランキング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6356520" y="21981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Redis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8854920" y="1486440"/>
            <a:ext cx="2520720" cy="1080360"/>
          </a:xfrm>
          <a:prstGeom prst="roundRect">
            <a:avLst>
              <a:gd name="adj" fmla="val 9108"/>
            </a:avLst>
          </a:prstGeom>
          <a:solidFill>
            <a:srgbClr val="fbfaf7"/>
          </a:solidFill>
          <a:ln w="6350">
            <a:solidFill>
              <a:srgbClr val="dad6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9036000" y="16419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4501b"/>
                </a:solidFill>
                <a:latin typeface="JetBrains Mono"/>
                <a:ea typeface="JetBrains Mono"/>
              </a:rPr>
              <a:t>favoriteCollection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9036000" y="1893600"/>
            <a:ext cx="22233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1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お気に入り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9036000" y="2198160"/>
            <a:ext cx="22233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ブラウザの</a:t>
            </a: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localStorage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Image 0" descr="arrow-down"/>
          <p:cNvPicPr/>
          <p:nvPr/>
        </p:nvPicPr>
        <p:blipFill>
          <a:blip r:embed="rId1"/>
          <a:stretch/>
        </p:blipFill>
        <p:spPr>
          <a:xfrm>
            <a:off x="5969160" y="2773440"/>
            <a:ext cx="253800" cy="355320"/>
          </a:xfrm>
          <a:prstGeom prst="rect">
            <a:avLst/>
          </a:prstGeom>
          <a:ln w="0">
            <a:noFill/>
          </a:ln>
        </p:spPr>
      </p:pic>
      <p:sp>
        <p:nvSpPr>
          <p:cNvPr id="61" name="Text 17"/>
          <p:cNvSpPr/>
          <p:nvPr/>
        </p:nvSpPr>
        <p:spPr>
          <a:xfrm>
            <a:off x="2921040" y="3332520"/>
            <a:ext cx="6349680" cy="538200"/>
          </a:xfrm>
          <a:prstGeom prst="roundRect">
            <a:avLst>
              <a:gd name="adj" fmla="val 18869"/>
            </a:avLst>
          </a:prstGeom>
          <a:solidFill>
            <a:srgbClr val="f08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440" rIns="136440" tIns="97200" bIns="72000" anchor="t">
            <a:normAutofit/>
          </a:bodyPr>
          <a:p>
            <a:pPr algn="ctr" defTabSz="914400">
              <a:lnSpc>
                <a:spcPts val="2239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ライブクエリで</a:t>
            </a:r>
            <a:r>
              <a:rPr b="1" lang="en-US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JOIN</a:t>
            </a: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（共通キー：商品</a:t>
            </a:r>
            <a:r>
              <a:rPr b="1" lang="en-US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ID</a:t>
            </a: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1" descr="arrow-down"/>
          <p:cNvPicPr/>
          <p:nvPr/>
        </p:nvPicPr>
        <p:blipFill>
          <a:blip r:embed="rId2"/>
          <a:stretch/>
        </p:blipFill>
        <p:spPr>
          <a:xfrm>
            <a:off x="5969160" y="4074120"/>
            <a:ext cx="253800" cy="355320"/>
          </a:xfrm>
          <a:prstGeom prst="rect">
            <a:avLst/>
          </a:prstGeom>
          <a:ln w="0">
            <a:noFill/>
          </a:ln>
        </p:spPr>
      </p:pic>
      <p:sp>
        <p:nvSpPr>
          <p:cNvPr id="63" name="Text 18"/>
          <p:cNvSpPr/>
          <p:nvPr/>
        </p:nvSpPr>
        <p:spPr>
          <a:xfrm>
            <a:off x="819000" y="4639320"/>
            <a:ext cx="2514240" cy="533160"/>
          </a:xfrm>
          <a:prstGeom prst="roundRect">
            <a:avLst>
              <a:gd name="adj" fmla="val 17857"/>
            </a:avLst>
          </a:prstGeom>
          <a:solidFill>
            <a:srgbClr val="fbfaf7"/>
          </a:solidFill>
          <a:ln w="12700">
            <a:solidFill>
              <a:srgbClr val="1218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105480" bIns="79920" anchor="t">
            <a:norm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T</a:t>
            </a:r>
            <a:r>
              <a:rPr b="0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シャツ </a:t>
            </a:r>
            <a:r>
              <a:rPr b="0" lang="en-US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¥2,980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3498840" y="4639320"/>
            <a:ext cx="2514240" cy="533160"/>
          </a:xfrm>
          <a:prstGeom prst="roundRect">
            <a:avLst>
              <a:gd name="adj" fmla="val 17857"/>
            </a:avLst>
          </a:prstGeom>
          <a:solidFill>
            <a:srgbClr val="fbfaf7"/>
          </a:solidFill>
          <a:ln w="12700">
            <a:solidFill>
              <a:srgbClr val="1218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105480" bIns="79920" anchor="t">
            <a:norm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レビュー </a:t>
            </a:r>
            <a:r>
              <a:rPr b="0" lang="en-US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4.2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6178680" y="4639320"/>
            <a:ext cx="2514240" cy="533160"/>
          </a:xfrm>
          <a:prstGeom prst="roundRect">
            <a:avLst>
              <a:gd name="adj" fmla="val 17857"/>
            </a:avLst>
          </a:prstGeom>
          <a:solidFill>
            <a:srgbClr val="fbfaf7"/>
          </a:solidFill>
          <a:ln w="12700">
            <a:solidFill>
              <a:srgbClr val="1218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105480" bIns="79920" anchor="t">
            <a:norm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人気 </a:t>
            </a:r>
            <a:r>
              <a:rPr b="0" lang="en-US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3</a:t>
            </a:r>
            <a:r>
              <a:rPr b="0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8858160" y="4639320"/>
            <a:ext cx="2514240" cy="533160"/>
          </a:xfrm>
          <a:prstGeom prst="roundRect">
            <a:avLst>
              <a:gd name="adj" fmla="val 17857"/>
            </a:avLst>
          </a:prstGeom>
          <a:solidFill>
            <a:srgbClr val="fbfaf7"/>
          </a:solidFill>
          <a:ln w="12700">
            <a:solidFill>
              <a:srgbClr val="1218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rIns="97920" tIns="105480" bIns="79920" anchor="t">
            <a:norm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ja-JP" sz="15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お気に入り済み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812880" y="623844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※ 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各データは</a:t>
            </a: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API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経由で取得。在庫や決済など整合性が必要なデータは</a:t>
            </a:r>
            <a:r>
              <a:rPr b="0" lang="en-US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RDB</a:t>
            </a:r>
            <a:r>
              <a:rPr b="0" lang="ja-JP" sz="1200" spc="-1" strike="noStrike">
                <a:solidFill>
                  <a:srgbClr val="5b6475"/>
                </a:solidFill>
                <a:latin typeface="Noto Sans JP"/>
                <a:ea typeface="Noto Sans JP"/>
              </a:rPr>
              <a:t>に置き、都度取得する。下段の値は説明用の例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679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デモ：操作しても</a:t>
            </a:r>
            <a:r>
              <a:rPr b="1" lang="en-US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API</a:t>
            </a: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を呼ばない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pic>
        <p:nvPicPr>
          <p:cNvPr id="69" name="Image 0" descr="CheckCircle"/>
          <p:cNvPicPr/>
          <p:nvPr/>
        </p:nvPicPr>
        <p:blipFill>
          <a:blip r:embed="rId1"/>
          <a:stretch/>
        </p:blipFill>
        <p:spPr>
          <a:xfrm>
            <a:off x="7823160" y="273096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70" name="Text 2"/>
          <p:cNvSpPr/>
          <p:nvPr/>
        </p:nvSpPr>
        <p:spPr>
          <a:xfrm>
            <a:off x="8229600" y="2741040"/>
            <a:ext cx="18504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取得は最初の</a:t>
            </a:r>
            <a:r>
              <a:rPr b="1" lang="en-US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1</a:t>
            </a: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回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1" descr="CheckCircle"/>
          <p:cNvPicPr/>
          <p:nvPr/>
        </p:nvPicPr>
        <p:blipFill>
          <a:blip r:embed="rId2"/>
          <a:stretch/>
        </p:blipFill>
        <p:spPr>
          <a:xfrm>
            <a:off x="7823160" y="329004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72" name="Text 3"/>
          <p:cNvSpPr/>
          <p:nvPr/>
        </p:nvSpPr>
        <p:spPr>
          <a:xfrm>
            <a:off x="8229600" y="3300120"/>
            <a:ext cx="2818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操作しても</a:t>
            </a:r>
            <a:r>
              <a:rPr b="1" lang="en-US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API</a:t>
            </a: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を呼ばない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2" descr="CheckCircle"/>
          <p:cNvPicPr/>
          <p:nvPr/>
        </p:nvPicPr>
        <p:blipFill>
          <a:blip r:embed="rId3"/>
          <a:stretch/>
        </p:blipFill>
        <p:spPr>
          <a:xfrm>
            <a:off x="7823160" y="384876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74" name="Text 4"/>
          <p:cNvSpPr/>
          <p:nvPr/>
        </p:nvSpPr>
        <p:spPr>
          <a:xfrm>
            <a:off x="8229600" y="3858840"/>
            <a:ext cx="31453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239"/>
              </a:lnSpc>
              <a:tabLst>
                <a:tab algn="l" pos="0"/>
              </a:tabLst>
            </a:pPr>
            <a:r>
              <a:rPr b="1" lang="ja-JP" sz="1600" spc="-1" strike="noStrike">
                <a:solidFill>
                  <a:srgbClr val="121826"/>
                </a:solidFill>
                <a:latin typeface="Noto Sans JP"/>
                <a:ea typeface="Noto Sans JP"/>
              </a:rPr>
              <a:t>画面を移っても取り直さない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4"/>
          <a:stretch/>
        </p:blipFill>
        <p:spPr>
          <a:xfrm>
            <a:off x="353520" y="1800000"/>
            <a:ext cx="7206480" cy="360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3679"/>
              </a:lnSpc>
              <a:buNone/>
              <a:tabLst>
                <a:tab algn="l" pos="0"/>
              </a:tabLst>
            </a:pPr>
            <a:r>
              <a:rPr b="1" lang="ja-JP" sz="3200" spc="-1" strike="noStrike">
                <a:solidFill>
                  <a:srgbClr val="121826"/>
                </a:solidFill>
                <a:latin typeface="Noto Sans JP"/>
                <a:ea typeface="Noto Sans JP"/>
              </a:rPr>
              <a:t>この構成に合う技術選定</a:t>
            </a:r>
            <a:endParaRPr b="0" lang="en-US" sz="3200" spc="-1" strike="noStrike">
              <a:solidFill>
                <a:schemeClr val="dk1"/>
              </a:solidFill>
              <a:latin typeface="Noto Sans JP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825480" y="1597680"/>
          <a:ext cx="10553400" cy="3466800"/>
        </p:xfrm>
        <a:graphic>
          <a:graphicData uri="http://schemas.openxmlformats.org/drawingml/2006/table">
            <a:tbl>
              <a:tblPr/>
              <a:tblGrid>
                <a:gridCol w="2321640"/>
                <a:gridCol w="2743920"/>
                <a:gridCol w="5487840"/>
              </a:tblGrid>
              <a:tr h="533160"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1" lang="ja-JP" sz="1500" spc="-1" strike="noStrike">
                          <a:solidFill>
                            <a:srgbClr val="f7f6f2"/>
                          </a:solidFill>
                          <a:latin typeface="Noto Sans JP"/>
                          <a:ea typeface="Noto Sans JP"/>
                        </a:rPr>
                        <a:t>レイヤー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121722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21722"/>
                      </a:solidFill>
                      <a:prstDash val="soli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1" lang="ja-JP" sz="1500" spc="-1" strike="noStrike">
                          <a:solidFill>
                            <a:srgbClr val="f7f6f2"/>
                          </a:solidFill>
                          <a:latin typeface="Noto Sans JP"/>
                          <a:ea typeface="Noto Sans JP"/>
                        </a:rPr>
                        <a:t>選択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121722"/>
                      </a:solidFill>
                      <a:prstDash val="solid"/>
                    </a:lnL>
                    <a:lnR w="12240">
                      <a:solidFill>
                        <a:srgbClr val="121722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21722"/>
                      </a:solidFill>
                      <a:prstDash val="soli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1" lang="ja-JP" sz="1500" spc="-1" strike="noStrike">
                          <a:solidFill>
                            <a:srgbClr val="f7f6f2"/>
                          </a:solidFill>
                          <a:latin typeface="Noto Sans JP"/>
                          <a:ea typeface="Noto Sans JP"/>
                        </a:rPr>
                        <a:t>理由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121722"/>
                      </a:solidFill>
                      <a:prstDash val="solid"/>
                    </a:lnL>
                    <a:lnR w="12240">
                      <a:solidFill>
                        <a:srgbClr val="121722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21722"/>
                      </a:solidFill>
                      <a:prstDash val="solid"/>
                    </a:lnB>
                    <a:solidFill>
                      <a:srgbClr val="121826"/>
                    </a:solidFill>
                  </a:tcPr>
                </a:tc>
              </a:tr>
              <a:tr h="533160"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5b6475"/>
                          </a:solidFill>
                          <a:latin typeface="Noto Sans JP"/>
                          <a:ea typeface="Noto Sans JP"/>
                        </a:rPr>
                        <a:t>レンダリング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21722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SPA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（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CSR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）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21722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画面遷移してもブラウザに状態が残り、データを使い回せる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21722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799920"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5b6475"/>
                          </a:solidFill>
                          <a:latin typeface="Noto Sans JP"/>
                          <a:ea typeface="Noto Sans JP"/>
                        </a:rPr>
                        <a:t>API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REST / RPC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bcbbb5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コレクション単位で返すだけ（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GraphQL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だとフロントで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JOIN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する意味が薄い）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bcbbb5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</a:tr>
              <a:tr h="799920"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5b6475"/>
                          </a:solidFill>
                          <a:latin typeface="Noto Sans JP"/>
                          <a:ea typeface="Noto Sans JP"/>
                        </a:rPr>
                        <a:t>DB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cbbb5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用途で使い分け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cbbb5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まとめて取得するのは、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NoSQL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に置くような読み出し中心のデータ。整合性が必要なデータは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RDB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cbbb5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799920"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5b6475"/>
                          </a:solidFill>
                          <a:latin typeface="Noto Sans JP"/>
                          <a:ea typeface="Noto Sans JP"/>
                        </a:rPr>
                        <a:t>フロントの保存先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メモリ（必要なら</a:t>
                      </a: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IndexedDB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）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bcbbb5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  <a:tc>
                  <a:txBody>
                    <a:bodyPr lIns="126720" rIns="126720" tIns="126720" bIns="126720" anchor="t">
                      <a:noAutofit/>
                    </a:bodyPr>
                    <a:p>
                      <a:pPr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1000</a:t>
                      </a:r>
                      <a:r>
                        <a:rPr b="0" lang="ja-JP" sz="1500" spc="-1" strike="noStrike">
                          <a:solidFill>
                            <a:srgbClr val="121826"/>
                          </a:solidFill>
                          <a:latin typeface="Noto Sans JP"/>
                          <a:ea typeface="Noto Sans JP"/>
                        </a:rPr>
                        <a:t>件ならメモリで十分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6720" marR="126720">
                    <a:lnL w="12240">
                      <a:solidFill>
                        <a:srgbClr val="bcbbb5"/>
                      </a:solidFill>
                      <a:prstDash val="solid"/>
                    </a:lnL>
                    <a:lnR w="12240">
                      <a:solidFill>
                        <a:srgbClr val="bcbbb5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cbbb5"/>
                      </a:solidFill>
                      <a:prstDash val="solid"/>
                    </a:lnB>
                    <a:solidFill>
                      <a:srgbClr val="eceae3"/>
                    </a:solidFill>
                  </a:tcPr>
                </a:tc>
              </a:tr>
            </a:tbl>
          </a:graphicData>
        </a:graphic>
      </p:graphicFrame>
      <p:sp>
        <p:nvSpPr>
          <p:cNvPr id="78" name="Text 1"/>
          <p:cNvSpPr/>
          <p:nvPr/>
        </p:nvSpPr>
        <p:spPr>
          <a:xfrm>
            <a:off x="812880" y="5369400"/>
            <a:ext cx="6042960" cy="555840"/>
          </a:xfrm>
          <a:prstGeom prst="roundRect">
            <a:avLst>
              <a:gd name="adj" fmla="val 18266"/>
            </a:avLst>
          </a:prstGeom>
          <a:solidFill>
            <a:srgbClr val="f08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rmAutofit/>
          </a:bodyPr>
          <a:p>
            <a:pPr algn="ctr" defTabSz="914400">
              <a:lnSpc>
                <a:spcPts val="238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21826"/>
                </a:solidFill>
                <a:latin typeface="Noto Sans JP"/>
                <a:ea typeface="Noto Sans JP"/>
              </a:rPr>
              <a:t>API</a:t>
            </a:r>
            <a:r>
              <a:rPr b="1" lang="ja-JP" sz="1700" spc="-1" strike="noStrike">
                <a:solidFill>
                  <a:srgbClr val="121826"/>
                </a:solidFill>
                <a:latin typeface="Noto Sans JP"/>
                <a:ea typeface="Noto Sans JP"/>
              </a:rPr>
              <a:t>を呼ぶのは、範囲条件（期間など）を変えたときだけ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812880" y="81288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959"/>
              </a:lnSpc>
              <a:tabLst>
                <a:tab algn="l" pos="0"/>
              </a:tabLst>
            </a:pPr>
            <a:r>
              <a:rPr b="1" lang="ja-JP" sz="1400" spc="97" strike="noStrike">
                <a:solidFill>
                  <a:srgbClr val="f08a4b"/>
                </a:solidFill>
                <a:latin typeface="JetBrains Mono"/>
                <a:ea typeface="JetBrains Mono"/>
              </a:rPr>
              <a:t>まとめ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812880" y="1213920"/>
            <a:ext cx="108831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381"/>
              </a:lnSpc>
              <a:tabLst>
                <a:tab algn="l" pos="0"/>
              </a:tabLst>
            </a:pP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取得は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1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回、データは使い回す（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TanStack DB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）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812880" y="1668600"/>
            <a:ext cx="108831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381"/>
              </a:lnSpc>
              <a:tabLst>
                <a:tab algn="l" pos="0"/>
              </a:tabLst>
            </a:pP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描画は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Virtual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、表内の操作は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Table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。操作のたびに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API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を呼ばない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812880" y="2123280"/>
            <a:ext cx="108831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238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SPA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＋</a:t>
            </a:r>
            <a:r>
              <a:rPr b="0" lang="en-US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NoSQL</a:t>
            </a:r>
            <a:r>
              <a:rPr b="0" lang="ja-JP" sz="1700" spc="-1" strike="noStrike">
                <a:solidFill>
                  <a:srgbClr val="c9d1de"/>
                </a:solidFill>
                <a:latin typeface="Noto Sans JP"/>
                <a:ea typeface="Noto Sans JP"/>
              </a:rPr>
              <a:t>なら、バックエンドは範囲で絞って返すだけ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812880" y="2577960"/>
            <a:ext cx="108831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1820"/>
              </a:lnSpc>
              <a:tabLst>
                <a:tab algn="l" pos="0"/>
              </a:tabLst>
            </a:pPr>
            <a:r>
              <a:rPr b="0" lang="ja-JP" sz="1300" spc="-1" strike="noStrike">
                <a:solidFill>
                  <a:srgbClr val="8c96a8"/>
                </a:solidFill>
                <a:latin typeface="Noto Sans JP"/>
                <a:ea typeface="Noto Sans JP"/>
              </a:rPr>
              <a:t>前提：範囲で絞った件数がブラウザに載ること（</a:t>
            </a:r>
            <a:r>
              <a:rPr b="0" lang="en-US" sz="1300" spc="-1" strike="noStrike">
                <a:solidFill>
                  <a:srgbClr val="8c96a8"/>
                </a:solidFill>
                <a:latin typeface="Noto Sans JP"/>
                <a:ea typeface="Noto Sans JP"/>
              </a:rPr>
              <a:t>1000</a:t>
            </a:r>
            <a:r>
              <a:rPr b="0" lang="ja-JP" sz="1300" spc="-1" strike="noStrike">
                <a:solidFill>
                  <a:srgbClr val="8c96a8"/>
                </a:solidFill>
                <a:latin typeface="Noto Sans JP"/>
                <a:ea typeface="Noto Sans JP"/>
              </a:rPr>
              <a:t>件程度）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12880" y="4379040"/>
            <a:ext cx="10883160" cy="112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ts val="432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f7f6f2"/>
                </a:solidFill>
                <a:latin typeface="Noto Sans JP"/>
                <a:ea typeface="Noto Sans JP"/>
              </a:rPr>
              <a:t>待ちをなくすのではなく、</a:t>
            </a:r>
            <a:endParaRPr b="0" lang="en-US" sz="3600" spc="-1" strike="noStrike">
              <a:solidFill>
                <a:schemeClr val="dk1"/>
              </a:solidFill>
              <a:latin typeface="Noto Sans JP"/>
            </a:endParaRPr>
          </a:p>
          <a:p>
            <a:pPr indent="0" defTabSz="914400">
              <a:lnSpc>
                <a:spcPts val="4320"/>
              </a:lnSpc>
              <a:buNone/>
              <a:tabLst>
                <a:tab algn="l" pos="0"/>
              </a:tabLst>
            </a:pPr>
            <a:r>
              <a:rPr b="1" lang="ja-JP" sz="3600" spc="-1" strike="noStrike">
                <a:solidFill>
                  <a:srgbClr val="f7f6f2"/>
                </a:solidFill>
                <a:latin typeface="Noto Sans JP"/>
                <a:ea typeface="Noto Sans JP"/>
              </a:rPr>
              <a:t>待ちが発生する場所を設計する。</a:t>
            </a:r>
            <a:endParaRPr b="0" lang="en-US" sz="3600" spc="-1" strike="noStrike">
              <a:solidFill>
                <a:schemeClr val="dk1"/>
              </a:solidFill>
              <a:latin typeface="Noto Sans JP"/>
            </a:endParaRPr>
          </a:p>
        </p:txBody>
      </p:sp>
      <p:sp>
        <p:nvSpPr>
          <p:cNvPr id="85" name="Text 6"/>
          <p:cNvSpPr/>
          <p:nvPr/>
        </p:nvSpPr>
        <p:spPr>
          <a:xfrm>
            <a:off x="812880" y="5654160"/>
            <a:ext cx="1088316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ts val="3081"/>
              </a:lnSpc>
              <a:tabLst>
                <a:tab algn="l" pos="0"/>
              </a:tabLst>
            </a:pPr>
            <a:r>
              <a:rPr b="1" lang="ja-JP" sz="2200" spc="-1" strike="noStrike">
                <a:solidFill>
                  <a:srgbClr val="f08a4b"/>
                </a:solidFill>
                <a:latin typeface="Noto Sans JP"/>
                <a:ea typeface="Noto Sans JP"/>
              </a:rPr>
              <a:t>「</a:t>
            </a:r>
            <a:r>
              <a:rPr b="1" lang="en-US" sz="2200" spc="-1" strike="noStrike">
                <a:solidFill>
                  <a:srgbClr val="f08a4b"/>
                </a:solidFill>
                <a:latin typeface="Noto Sans JP"/>
                <a:ea typeface="Noto Sans JP"/>
              </a:rPr>
              <a:t>API</a:t>
            </a:r>
            <a:r>
              <a:rPr b="1" lang="ja-JP" sz="2200" spc="-1" strike="noStrike">
                <a:solidFill>
                  <a:srgbClr val="f08a4b"/>
                </a:solidFill>
                <a:latin typeface="Noto Sans JP"/>
                <a:ea typeface="Noto Sans JP"/>
              </a:rPr>
              <a:t>の呼び出しは最低限に！」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anStack系ライブラリでサクサクUX改善">
  <a:themeElements>
    <a:clrScheme name="TanStack系ライブラリでサクサクUX改善">
      <a:dk1>
        <a:srgbClr val="121826"/>
      </a:dk1>
      <a:lt1>
        <a:srgbClr val="f7f6f2"/>
      </a:lt1>
      <a:dk2>
        <a:srgbClr val="4b5059"/>
      </a:dk2>
      <a:lt2>
        <a:srgbClr val="e0e0de"/>
      </a:lt2>
      <a:accent1>
        <a:srgbClr val="b4501b"/>
      </a:accent1>
      <a:accent2>
        <a:srgbClr val="f08a4b"/>
      </a:accent2>
      <a:accent3>
        <a:srgbClr val="5b6475"/>
      </a:accent3>
      <a:accent4>
        <a:srgbClr val="3d4555"/>
      </a:accent4>
      <a:accent5>
        <a:srgbClr val="c9d1de"/>
      </a:accent5>
      <a:accent6>
        <a:srgbClr val="8c96a8"/>
      </a:accent6>
      <a:hlink>
        <a:srgbClr val="0563c1"/>
      </a:hlink>
      <a:folHlink>
        <a:srgbClr val="954f72"/>
      </a:folHlink>
    </a:clrScheme>
    <a:fontScheme name="TanStack系ライブラリでサクサクUX改善">
      <a:majorFont>
        <a:latin typeface="Noto Sans JP" pitchFamily="0" charset="1"/>
        <a:ea typeface=""/>
        <a:cs typeface=""/>
      </a:majorFont>
      <a:minorFont>
        <a:latin typeface="Noto Sans JP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nStack系ライブラリでサクサクUX改善">
  <a:themeElements>
    <a:clrScheme name="TanStack系ライブラリでサクサクUX改善">
      <a:dk1>
        <a:srgbClr val="121826"/>
      </a:dk1>
      <a:lt1>
        <a:srgbClr val="f7f6f2"/>
      </a:lt1>
      <a:dk2>
        <a:srgbClr val="4b5059"/>
      </a:dk2>
      <a:lt2>
        <a:srgbClr val="e0e0de"/>
      </a:lt2>
      <a:accent1>
        <a:srgbClr val="b4501b"/>
      </a:accent1>
      <a:accent2>
        <a:srgbClr val="f08a4b"/>
      </a:accent2>
      <a:accent3>
        <a:srgbClr val="5b6475"/>
      </a:accent3>
      <a:accent4>
        <a:srgbClr val="3d4555"/>
      </a:accent4>
      <a:accent5>
        <a:srgbClr val="c9d1de"/>
      </a:accent5>
      <a:accent6>
        <a:srgbClr val="8c96a8"/>
      </a:accent6>
      <a:hlink>
        <a:srgbClr val="0563c1"/>
      </a:hlink>
      <a:folHlink>
        <a:srgbClr val="954f72"/>
      </a:folHlink>
    </a:clrScheme>
    <a:fontScheme name="TanStack系ライブラリでサクサクUX改善">
      <a:majorFont>
        <a:latin typeface="Noto Sans JP" pitchFamily="0" charset="1"/>
        <a:ea typeface=""/>
        <a:cs typeface=""/>
      </a:majorFont>
      <a:minorFont>
        <a:latin typeface="Noto Sans JP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2026-10-15T13:48:58Z</dcterms:created>
  <dc:creator/>
  <dc:description/>
  <dc:language>ja-JP</dc:language>
  <cp:lastModifiedBy/>
  <dcterms:modified xsi:type="dcterms:W3CDTF">2026-10-15T23:49:36Z</dcterms:modified>
  <cp:revision>2</cp:revision>
  <dc:subject/>
  <dc:title>TanStack系ライブラリでサクサクUX改善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